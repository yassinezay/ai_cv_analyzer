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12188952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16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AI CV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BDEFB"/>
                </a:solidFill>
              </a:rPr>
              <a:t>Deep Learning NLP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0CAF9"/>
                </a:solidFill>
              </a:rPr>
              <a:t>BTS Applied ML —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Pipeline 1: Job Category Classification  (18 classes + AUTRE)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5196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BDEFB"/>
                </a:solidFill>
              </a:rPr>
              <a:t>Pipeline 2: CV ↔ Job Matching  (cosine similarity, 5 000 job postings)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35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CAF9"/>
                </a:solidFill>
              </a:rPr>
              <a:t>Dataset: Kaggle Resume Dataset · 2 484 CVs · 24 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[Your Names]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Problem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Why does this project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1640312" cy="274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</a:rPr>
              <a:t>2/12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47A1"/>
                </a:solidFill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212121"/>
                </a:solidFill>
              </a:rPr>
              <a:t>• 75% of CVs are rejected by ATS (Applicant Tracking System) before a human reads them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212121"/>
                </a:solidFill>
              </a:rPr>
              <a:t>• Candidates don't know which job category their CV targets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212121"/>
                </a:solidFill>
              </a:rPr>
              <a:t>• No tool tells them which keywords are missing for a specific job offer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00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47A1"/>
                </a:solidFill>
              </a:rPr>
              <a:t>Our Solution — 2 Pipelines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11880"/>
            <a:ext cx="5394960" cy="1645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657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Pipeline 1 —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233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Input: raw resume text (PDF or paste)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Output: predicted job category (18 classes + AUTRE)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Model: LinearSVC + word/char TF-IDF + AUTRE strategy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Metric: Weighted F1-score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611880"/>
            <a:ext cx="5394960" cy="1645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657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Pipeline 2 — Job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0233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Input: CV text + 5 000 Kaggle job postings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Output: top-5 most relevant job offers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Method: TF-IDF cosine similarity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Evaluation: keyword overlap proxy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39496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16161"/>
                </a:solidFill>
              </a:rPr>
              <a:t>Objective: understand your model, not only maximise performance  (professor requirement)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Dataset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Two Kaggle datasets — downloaded automatically via kagglehub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1640312" cy="274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</a:rPr>
              <a:t>3/12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417320"/>
          <a:ext cx="114300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Resume Dataset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Job Descriptions Dataset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snehaanbhawal/resume-dataset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ravindrasinghrana/job-description-dataset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2 484 labelled CVs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5 000 synthetic job postings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Features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Resume text (plain text)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Job Title, Role, Description, Skills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24 job categories → 18+AUTRE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Used for similarity matching (no label)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Split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80% train / 20% test (stratified)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No split (unsupervised retrieval)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Download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Automatic via kagglehub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Automatic via kagglehub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206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</a:rPr>
              <a:t>AUTRE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53712"/>
            <a:ext cx="11430000" cy="1188720"/>
          </a:xfrm>
          <a:prstGeom prst="rect">
            <a:avLst/>
          </a:prstGeom>
          <a:solidFill>
            <a:srgbClr val="FFF9C4"/>
          </a:solidFill>
          <a:ln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599432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A1400"/>
                </a:solidFill>
              </a:rPr>
              <a:t>6 categories with F1 &lt; 0.40 on the 24-class model were merged into AUTRE (other): AUTOMOBILE (7 examples, F1=0.00), BPO (4 examples, F1=0.00), AGRICULTURE (F1=0.10), FITNESS (F1=0.10), ARTS (F1=0.12), APPAREL (F1=0.15).
Reason: too few training samples + vocabulary too similar to neighbouring categories.
Result: 18 learnable classes + AUTRE → model stops wasting capacity on impossible classes.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Text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Applied to every resume before training and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1640312" cy="274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</a:rPr>
              <a:t>4/12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417320"/>
          <a:ext cx="6858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Lowercase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"Python Developer" → "python developer"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Remove URLs &amp; emails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"john@gmail.com" → removed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Replace numbers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"5 years" → "NUM years"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Remove punctuation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".,-!?()" → 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Remove stopwords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"the", "with", "at", "for" → removed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Filter short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tokens &lt; 3 chars removed ("it", "of", "to")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4173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Vocabulary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78308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Size: 8 000 most frequent words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Min frequency: 2 (rare words removed)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PAD token: index 0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UNK token: index 1 (unknown words)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Max sequence length: 150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840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Train / Test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420624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Strategy: Stratified split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80% training → 1 491 CVs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20% test     →   373 CVs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Max 2 000 samples (CPU constraint)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Each class proportionally represented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434840"/>
            <a:ext cx="6858000" cy="457200"/>
          </a:xfrm>
          <a:prstGeom prst="rect">
            <a:avLst/>
          </a:prstGeom>
          <a:solidFill>
            <a:srgbClr val="FFF9C4"/>
          </a:solidFill>
          <a:ln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480559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A1400"/>
                </a:solidFill>
              </a:rPr>
              <a:t>Screenshot to add here: Cell [10] output — RAW vs CLEANED text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Baseline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TF-IDF + Logistic Regression (scikit-learn) — reference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1640312" cy="274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</a:rPr>
              <a:t>5/12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How TF-IDF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Converts each CV into a vector of 10 000 numbers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TF = how often a word appears in THIS CV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IDF = how rare the word is across ALL CVs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High TF-IDF = word is frequent here but rare elsewhere → important signal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ngram_range=(1,2) → captures bigrams: "machine learning", "project manager"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sublinear_tf=True → log(1+tf) to reduce impact of very frequent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Logistic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48056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Solver: L-BFGS (efficient for multiclass)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Regularization: L2, C=1.0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Strategy: multinomial (24 classes simultaneously)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1417320"/>
          <a:ext cx="55778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0.622  (62.2%)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F1 (weighted)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0.594  (59.4%)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Training time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4.3 seconds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10 000 TF-IDF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17920" y="3520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Why F1 weighted and not just Accuracy?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88620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24 classes with very different sample counts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(BPO: 4 examples vs FINANCE: 17 examples)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Accuracy ignores class imbalance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Weighted F1 = F1 per class × (support / total)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→ More reliable metric for imbalanced datasets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577840"/>
            <a:ext cx="11430000" cy="411480"/>
          </a:xfrm>
          <a:prstGeom prst="rect">
            <a:avLst/>
          </a:prstGeom>
          <a:solidFill>
            <a:srgbClr val="FFF9C4"/>
          </a:solidFill>
          <a:ln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623559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A1400"/>
                </a:solidFill>
              </a:rPr>
              <a:t>This baseline F1=0.594 is our reference — any model must beat it to justify complexity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Deep Learning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Bidirectional LSTM + Self-Attention (PyTorch)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1640312" cy="274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</a:rPr>
              <a:t>6/12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03520" cy="484632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274320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92807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Embedding(8 000, 128)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92023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Word → 128-dim vector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2221991"/>
            <a:ext cx="45720" cy="109728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331720"/>
            <a:ext cx="274320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000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Dropout(0.3)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37743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Regularization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7360" y="2679191"/>
            <a:ext cx="45720" cy="109728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788920"/>
            <a:ext cx="274320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0720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BiLSTM(128, 2 layers)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83463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Reads text → and ← simultaneously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7360" y="3136391"/>
            <a:ext cx="45720" cy="109728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246120"/>
            <a:ext cx="274320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26440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Attention(score each token)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29183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Learns which words matter most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3593591"/>
            <a:ext cx="45720" cy="109728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703320"/>
            <a:ext cx="274320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721607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Weighted sum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374903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Context = Σ(w_i × hidden_i)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7360" y="4050791"/>
            <a:ext cx="45720" cy="109728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160520"/>
            <a:ext cx="274320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178807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Dropout(0.3)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4206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Regularization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37360" y="4507992"/>
            <a:ext cx="45720" cy="109728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617720"/>
            <a:ext cx="274320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636007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Linear(256 → 19)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4663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Predicts among 18 classes + AUTRE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37360" y="4965192"/>
            <a:ext cx="45720" cy="109728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14173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Why BiLSTM + Attention?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1783080"/>
            <a:ext cx="5760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BiLSTM: reads CV left→right AND right→left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→ captures context from both sides of each word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Attention: assigns a score to each token position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→ 'python', 'surgeon', 'teacher' get high weight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→ 'responsible', 'with', 'team' get low weight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→ final vector = weighted average of all positions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Advantage over plain BiLSTM: doesn't rely only on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the last hidden state (last word has too much influence)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44805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Training Config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6035040" y="4846320"/>
          <a:ext cx="57607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</a:tblGrid>
              <a:tr h="24819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Optimizer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Adam, lr=0.001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Loss function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CrossEntropyLoss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LR Scheduler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StepLR (step=3, γ=0.5)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Gradient clipping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norm =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Early stopping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patience = 3 epochs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24819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Trainable params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~1.7 million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Hyperparameter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7 models tested — varied architecture, dropout, training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1640312" cy="274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</a:rPr>
              <a:t>7/12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41732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Run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Hidden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Dropout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LR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 Acc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F1 (w)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BiLSTM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0.001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0.609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~0.59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90s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BiLSTM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~0.66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144s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BiLSTM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0.001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0.630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~0.61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141s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BiGRU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~0.67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~0.64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120s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BiLSTM+Attn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0.001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~0.69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~0.67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180s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TextCNN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~0.67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~0.65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30s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LinearSVC+char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~0.73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~0.71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15s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434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Key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800600"/>
            <a:ext cx="11430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Run 1 vs 2: hidden=128 beats hidden=64  (+7.2% accuracy) — more capacity needed for 24 classes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Run 2 vs 3: dropout=0.5 hurts performance — too much regularisation prevents learning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Run 4 (GRU): slightly lower than LSTM but 17% faster — good speed/accuracy trade-off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Run 5 (Attention): best DL model — learned which words are most discriminative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Run 6 (TextCNN): fastest DL model (30s) — conv filters detect local n-gram patterns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Run 7 (LinearSVC+char): best single model — char n-grams capture morphology &amp; abbreviations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Overfitting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Train vs Validation gap — mandatory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1640312" cy="274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</a:rPr>
              <a:t>8/12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417320"/>
          <a:ext cx="7772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Train Acc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 Acc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Gap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BiLSTM h=64,  d=0.3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0.639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0.609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+0.030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BiLSTM h=128, d=0.3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0.743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+0.062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Mild overfit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BiLSTM h=128, d=0.5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0.628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0.630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-0.002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Underfit (too much dropout)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BiGRU  h=128, d=0.3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~0.71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~0.67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+0.040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BiLSTM+Attention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~0.72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~0.69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+0.030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Mitigations applied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7830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Dropout (0.3 / 0.5)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→ disables 30-50% neurons per batch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L2 weight decay (1e-5)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→ penalises large weights in Adam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Gradient clipping (norm=1.0)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→ prevents exploding gradients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StepLR (step=3, γ=0.5)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→ halves LR at epoch 3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Early Stopping (patience=3)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→ restores best weights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03320"/>
            <a:ext cx="7772400" cy="594360"/>
          </a:xfrm>
          <a:prstGeom prst="rect">
            <a:avLst/>
          </a:prstGeom>
          <a:solidFill>
            <a:srgbClr val="FFF9C4"/>
          </a:solidFill>
          <a:ln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A1400"/>
                </a:solidFill>
              </a:rPr>
              <a:t>Screenshot to add here: Cell [21] Training Curves — 4 subplots (Loss + Accuracy for each model)
and Cell [23] Overfitting bar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891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0916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Best model (BiLSTM h=128, d=0.3) has a 6.2% train/val gap → acceptable mild overfitting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Dropout=0.5 eliminates overfitting but causes underfitting — dropout must be tuned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Attention mechanism reduces the gap to ~3% while improving accuracy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Model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3 techniques applied on top of the base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1640312" cy="274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</a:rPr>
              <a:t>9/12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749039" cy="4800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A — LinearSVC + char n-grams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• Combines word TF-IDF (15k features) + character TF-IDF (15k features) = 30k total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• Character n-grams (size 3-5) capture: 'pyt','ytho','thon' from 'python'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• Detects abbreviations (AWS, SQL, MBA), suffixes (-ology, -tion), misspellings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• LinearSVC maximises margin between classes — better than LogReg on high-dim features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• Result: +12% F1 over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749039" cy="4800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63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B — BiLSTM + Self-Attention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2024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• Standard BiLSTM uses only the last hidden state → last word has too much influence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• Attention: score_i = Linear(hidden_i) → weight_i = softmax(score_i)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• Final vector = Σ(weight_i × hidden_i) — weighted average over all positions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• Model learns: 'python' → high weight, 'responsible' → low weight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• Result: +2% accuracy over plain BiLSTM, overfitting gap reduced to ~3%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3749039" cy="48006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63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</a:rPr>
              <a:t>C — Soft-Voting Ensemble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• Combines 4 models: LinearSVC+char + BiLSTM + Attention + TextCNN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• Each model outputs probability vector P(class|CV)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• Final prediction = argmax( (P_SVC + P_LSTM + P_Attn + P_CNN) / 4 )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• Diversity of models (SVM + recurrent + convolutional) reduces correlated errors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212121"/>
                </a:solidFill>
              </a:rPr>
              <a:t>• Result: best overall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AUTRE Strategy — Handling Weak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Professor recommendation: merge low-F1 classes into AUTRE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1640312" cy="274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</a:rPr>
              <a:t>10/12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</a:rPr>
              <a:t>Why some classes have F1 = 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83080"/>
          <a:ext cx="5669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F1 Score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Support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AUTOMOBILE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Too few training examples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BPO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Too few training examples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FITNESS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0.105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Overlaps with HEALTHCARE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AGRICULTURE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Overlaps with other categories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ARTS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0.129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Vocabulary too generic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APPAREL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Vocabulary too generic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Set threshold: F1 &lt; 0.40 → class becomes AUTRE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24 classes → 18 strong classes + 1 AUTRE class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Retrain all models on the new dataset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09360" y="265176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Classes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F1 (weighted)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Original (24 classes)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~0.75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~0.72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AUTRE (18+1 classes)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~0.82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~0.80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Improvement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+0.07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121"/>
                          </a:solidFill>
                        </a:rPr>
                        <a:t>+0.08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4251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Why this is valid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617720"/>
            <a:ext cx="11430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In production: better to say 'I don't know (AUTRE)' than to give a confidently wrong answer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Concentrating training on learnable classes improves generalisation on those classes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Standard practice in industrial NLP: hard/ambiguous classes are handled separately or escalated to humans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</a:rPr>
              <a:t>• AUTRE class still gives useful signal: candidate's CV is cross-domain or in a niche category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solidFill>
            <a:srgbClr val="FFF9C4"/>
          </a:solidFill>
          <a:ln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A1400"/>
                </a:solidFill>
              </a:rPr>
              <a:t>Screenshot to add: Cell [Step 4] — Before/After bar chart 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Final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All models compared — Pipeline 1 (Classification)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1640312" cy="274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</a:rPr>
              <a:t>11/12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4173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4913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F1 (w)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vs Baseline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TF-IDF + LogReg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Classical (baseline)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0.622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0.594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4s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TF-IDF + ComplementNB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Classical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~0.58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~0.56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-0.034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TF-IDF + RandomForest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Classical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~0.60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~0.57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-0.024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45s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LinearSVC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Classical (improved)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~0.65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~0.63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+0.036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BiLSTM h=128, d=0.3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Deep Learning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0.681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~0.66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+0.066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144s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BiLSTM + 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Deep Learning (improved)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~0.69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~0.67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+0.076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180s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TextCNN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Deep Learning (improved)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~0.67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~0.65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+0.056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30s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LinearSVC + char n-grams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Classical (improved)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~0.73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~0.71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+0.116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Ensemble (4 models)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Ensemble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~0.75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~0.72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+0.126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491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Ensemble + AUTRE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Ensemble + AUTRE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~0.82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~0.80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+0.206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349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</a:rPr>
              <a:t>Best model: Ensemble + AUTRE strategy  —  F1 improvement: +0.21 over baseline  (+35% relative)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852160"/>
            <a:ext cx="11430000" cy="411480"/>
          </a:xfrm>
          <a:prstGeom prst="rect">
            <a:avLst/>
          </a:prstGeom>
          <a:solidFill>
            <a:srgbClr val="FFF9C4"/>
          </a:solidFill>
          <a:ln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8978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A1400"/>
                </a:solidFill>
              </a:rPr>
              <a:t>Screenshot to add: Cell [Section 4.8] final vertical bar chart + Cell [4.9] before/after AUTRE chart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Streamlit Demo +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Live demo at http://localhost:8501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1640312" cy="274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</a:rPr>
              <a:t>12/12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Streamlit App — 4 tabs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8308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Tab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Overview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ATS score gauge + predicted role + section checklist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Rule-based + LinearSVC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Skills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Detected skills by category + missing skills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Regex keyword matching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Recommendations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Prioritised improvement tips (HIGH/MEDIUM/LOW)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Rule-based heuristics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Job Matching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Top-5 job matches from 5 000 Kaggle postings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TF-IDF cosine similarity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32320" y="1417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7830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BiLSTM beats baseline by +6.6% F1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Attention further improves by +1%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Char n-grams bring +11.6% over baseline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AUTRE strategy: +20.6% over baseline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Ensemble is always the best single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657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402336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English only (no French/Arabic CVs)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Only 24 predefined categories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ATS scoring is rule-based, not trained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121"/>
                </a:solidFill>
              </a:rPr>
              <a:t>• Small dataset (~62 CVs per class)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440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16161"/>
                </a:solidFill>
              </a:rPr>
              <a:t>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760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16161"/>
                </a:solidFill>
              </a:rPr>
              <a:t>Fine-tune DistilBERT → expected +10-15% | Multilingual support | NER-based skill extraction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6400800" cy="457200"/>
          </a:xfrm>
          <a:prstGeom prst="rect">
            <a:avLst/>
          </a:prstGeom>
          <a:solidFill>
            <a:srgbClr val="FFF9C4"/>
          </a:solidFill>
          <a:ln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A1400"/>
                </a:solidFill>
              </a:rPr>
              <a:t>Screenshot to add: Streamlit app running — show Tab 1 (Overview) and Tab 4 (Job Matching)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0350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16161"/>
                </a:solidFill>
              </a:rPr>
              <a:t>Model Card: MODEL_CARD.md  |  Code: project_analysis.ipynb  |  App: streamlit run app/streamlit_app.py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